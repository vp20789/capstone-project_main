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Distribution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E53E3E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Benign (62.7%)</c:v>
                </c:pt>
                <c:pt idx="1">
                  <c:v>Malignant (37.3%)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357</c:v>
                </c:pt>
                <c:pt idx="1">
                  <c:v>212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FFFFFF"/>
                </a:solidFill>
                <a:latin typeface="Arial"/>
              </a:rPr>
              <a:t>ROC Curve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 Curve (AUC=0.99)</c:v>
                </c:pt>
              </c:strCache>
            </c:strRef>
          </c:tx>
          <c:spPr>
            <a:solidFill>
              <a:srgbClr val="028090"/>
            </a:solidFill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0.07</c:v>
                </c:pt>
                <c:pt idx="4">
                  <c:v>0.1</c:v>
                </c:pt>
                <c:pt idx="5">
                  <c:v>0.15</c:v>
                </c:pt>
                <c:pt idx="6">
                  <c:v>0.2</c:v>
                </c:pt>
                <c:pt idx="7">
                  <c:v>0.35</c:v>
                </c:pt>
                <c:pt idx="8">
                  <c:v>0.6</c:v>
                </c:pt>
                <c:pt idx="9">
                  <c:v>0.85</c:v>
                </c:pt>
                <c:pt idx="10">
                  <c:v>1</c:v>
                </c:pt>
              </c:numCache>
            </c:numRef>
          </c:xVal>
          <c:y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0.45</c:v>
                </c:pt>
                <c:pt idx="2">
                  <c:v>0.72</c:v>
                </c:pt>
                <c:pt idx="3">
                  <c:v>0.87</c:v>
                </c:pt>
                <c:pt idx="4">
                  <c:v>0.93</c:v>
                </c:pt>
                <c:pt idx="5">
                  <c:v>0.96</c:v>
                </c:pt>
                <c:pt idx="6">
                  <c:v>0.97</c:v>
                </c:pt>
                <c:pt idx="7">
                  <c:v>0.98</c:v>
                </c:pt>
                <c:pt idx="8">
                  <c:v>0.99</c:v>
                </c:pt>
                <c:pt idx="9">
                  <c:v>0.995</c:v>
                </c:pt>
                <c:pt idx="10">
                  <c:v>1</c:v>
                </c:pt>
              </c:numCache>
            </c:numRef>
          </c:y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Random</c:v>
                </c:pt>
              </c:strCache>
            </c:strRef>
          </c:tx>
          <c:spPr>
            <a:solidFill>
              <a:srgbClr val="02C39A"/>
            </a:solidFill>
            <a:ln w="38100" cap="flat">
              <a:solidFill>
                <a:srgbClr val="02C39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C39A"/>
              </a:solidFill>
              <a:ln w="9525" cap="flat">
                <a:solidFill>
                  <a:srgbClr val="02C39A"/>
                </a:solidFill>
                <a:prstDash val="solid"/>
                <a:round/>
              </a:ln>
              <a:effectLst/>
            </c:spPr>
          </c:marker>
          <c:xVal>
            <c:numRef>
              <c:f>Sheet1!$A$2:$A$12</c:f>
              <c:numCache>
                <c:formatCode>General</c:formatCode>
                <c:ptCount val="11"/>
                <c:pt idx="0">
                  <c:v>0</c:v>
                </c:pt>
                <c:pt idx="1">
                  <c:v>0.02</c:v>
                </c:pt>
                <c:pt idx="2">
                  <c:v>0.04</c:v>
                </c:pt>
                <c:pt idx="3">
                  <c:v>0.07</c:v>
                </c:pt>
                <c:pt idx="4">
                  <c:v>0.1</c:v>
                </c:pt>
                <c:pt idx="5">
                  <c:v>0.15</c:v>
                </c:pt>
                <c:pt idx="6">
                  <c:v>0.2</c:v>
                </c:pt>
                <c:pt idx="7">
                  <c:v>0.35</c:v>
                </c:pt>
                <c:pt idx="8">
                  <c:v>0.6</c:v>
                </c:pt>
                <c:pt idx="9">
                  <c:v>0.85</c:v>
                </c:pt>
                <c:pt idx="10">
                  <c:v>1</c:v>
                </c:pt>
              </c:numCache>
            </c:numRef>
          </c:xVal>
          <c:yVal>
            <c:numRef>
              <c:f>Sheet1!$C$2:$C$12</c:f>
              <c:numCache>
                <c:formatCode>General</c:formatCode>
                <c:ptCount val="1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0.8</c:v>
                </c:pt>
                <c:pt idx="9">
                  <c:v>0.9</c:v>
                </c:pt>
                <c:pt idx="10">
                  <c:v>1</c:v>
                </c:pt>
              </c:numCache>
            </c:numRef>
          </c:yVal>
          <c:smooth val="1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1A4A6A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CC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1A4A6A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CCD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FFFFFF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D3B6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-731520"/>
            <a:ext cx="5029200" cy="5029200"/>
          </a:xfrm>
          <a:prstGeom prst="ellipse">
            <a:avLst/>
          </a:prstGeom>
          <a:solidFill>
            <a:srgbClr val="0D3B6E"/>
          </a:solidFill>
          <a:ln w="12700">
            <a:solidFill>
              <a:srgbClr val="0D3B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-274320"/>
            <a:ext cx="3840480" cy="3840480"/>
          </a:xfrm>
          <a:prstGeom prst="ellipse">
            <a:avLst/>
          </a:prstGeom>
          <a:solidFill>
            <a:srgbClr val="0E4B7A"/>
          </a:solidFill>
          <a:ln w="12700">
            <a:solidFill>
              <a:srgbClr val="0E4B7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64008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59436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Breast Tumor Risk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274320" y="12801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Identification &amp;</a:t>
            </a:r>
            <a:endParaRPr lang="en-US" sz="3800" dirty="0"/>
          </a:p>
        </p:txBody>
      </p:sp>
      <p:sp>
        <p:nvSpPr>
          <p:cNvPr id="8" name="Text 5"/>
          <p:cNvSpPr/>
          <p:nvPr/>
        </p:nvSpPr>
        <p:spPr>
          <a:xfrm>
            <a:off x="274320" y="18745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 Pattern Segmentation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74320" y="2578608"/>
            <a:ext cx="50292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4320" y="26974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Random Forest Analytics on the UCI WDBC Dataset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" y="3246120"/>
            <a:ext cx="5303520" cy="1508760"/>
          </a:xfrm>
          <a:prstGeom prst="rect">
            <a:avLst/>
          </a:prstGeom>
          <a:solidFill>
            <a:srgbClr val="0D2E4E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65760" y="336499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Analytics  ·  Capstone Project  ·  2025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65760" y="36758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pPr indent="0" marL="0">
              <a:buNone/>
            </a:pPr>
            <a:r>
              <a:rPr lang="en-US" sz="1100" dirty="0">
                <a:solidFill>
                  <a:srgbClr val="99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Team Names]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65760" y="398678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Cohort: </a:t>
            </a:r>
            <a:pPr indent="0" marL="0">
              <a:buNone/>
            </a:pPr>
            <a:r>
              <a:rPr lang="en-US" sz="1100" dirty="0">
                <a:solidFill>
                  <a:srgbClr val="99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Cohort / Year]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A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"Focused on risk prioritization, interpretability, and decision-support analytics."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828800" cy="2926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CONTEXT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Problem &amp; Objective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31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3931920" cy="41148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728216"/>
            <a:ext cx="256032" cy="25603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0992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69164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Large-volume diagnostic data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41248" y="1965960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screening generates vast, hard-to-interpret measurement sets.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715768"/>
            <a:ext cx="256032" cy="25603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9748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41248" y="267919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risk flagging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41248" y="295351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leads to variability in identifying high-risk cases.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703320"/>
            <a:ext cx="256032" cy="256032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68503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41248" y="3666744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malignant cases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3941064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carry the highest clinical consequence.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80560" y="1188720"/>
            <a:ext cx="429768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80560" y="1188720"/>
            <a:ext cx="429768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0" y="11887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17720" y="16733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tumors as Malignant or Benign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17720" y="1965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sensitivity toward high-risk cases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17720" y="22585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reproducible analytical workflow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480560" y="3063240"/>
            <a:ext cx="2084832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480560" y="306324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656832" y="3063240"/>
            <a:ext cx="2084832" cy="64008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656832" y="306324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Identification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480560" y="3840480"/>
            <a:ext cx="2084832" cy="640080"/>
          </a:xfrm>
          <a:prstGeom prst="rect">
            <a:avLst/>
          </a:prstGeom>
          <a:solidFill>
            <a:srgbClr val="0D6B8E"/>
          </a:solidFill>
          <a:ln w="12700">
            <a:solidFill>
              <a:srgbClr val="0D6B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480560" y="384048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Optimization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656832" y="3840480"/>
            <a:ext cx="2084832" cy="640080"/>
          </a:xfrm>
          <a:prstGeom prst="rect">
            <a:avLst/>
          </a:prstGeom>
          <a:solidFill>
            <a:srgbClr val="02A87F"/>
          </a:solidFill>
          <a:ln w="12700">
            <a:solidFill>
              <a:srgbClr val="02A8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656832" y="3840480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Segmentation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solidFill>
            <a:srgbClr val="FFF3E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72744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Educational &amp; analytical in nature — not intended for clinical diagnosis.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828800" cy="2926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 &amp; Key Observations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93392" cy="1005840"/>
          </a:xfrm>
          <a:prstGeom prst="rect">
            <a:avLst/>
          </a:prstGeom>
          <a:solidFill>
            <a:srgbClr val="0A2342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3444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569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42032" y="1188720"/>
            <a:ext cx="1993392" cy="1005840"/>
          </a:xfrm>
          <a:prstGeom prst="rect">
            <a:avLst/>
          </a:prstGeom>
          <a:solidFill>
            <a:srgbClr val="0A2342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42032" y="123444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542032" y="178308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Features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18304" y="1188720"/>
            <a:ext cx="1993392" cy="1005840"/>
          </a:xfrm>
          <a:prstGeom prst="rect">
            <a:avLst/>
          </a:prstGeom>
          <a:solidFill>
            <a:srgbClr val="0A2342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18304" y="123444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18304" y="178308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94576" y="1188720"/>
            <a:ext cx="1993392" cy="1005840"/>
          </a:xfrm>
          <a:prstGeom prst="rect">
            <a:avLst/>
          </a:prstGeom>
          <a:solidFill>
            <a:srgbClr val="0A2342"/>
          </a:solidFill>
          <a:ln w="25400">
            <a:solidFill>
              <a:srgbClr val="02A8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94576" y="1234440"/>
            <a:ext cx="19933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A8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894576" y="1783080"/>
            <a:ext cx="19933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Classes</a:t>
            </a:r>
            <a:endParaRPr lang="en-US" sz="9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365760" y="2377440"/>
          <a:ext cx="32918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3840480" y="2377440"/>
            <a:ext cx="49377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840480" y="2377440"/>
            <a:ext cx="4937760" cy="365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931920" y="23774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 GROUPS  (FNA-derived measurements)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931920" y="2834640"/>
            <a:ext cx="54864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69080" y="283464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Radius / Texture / Perimeter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069080" y="301752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shape dimensions from cell nuclei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931920" y="3236976"/>
            <a:ext cx="54864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069080" y="323697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/ Smoothness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069080" y="341985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and surface uniformity measures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3931920" y="3639312"/>
            <a:ext cx="54864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069080" y="363931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Compactness / Concavity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4069080" y="382219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irregularity indicators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3931920" y="4041648"/>
            <a:ext cx="54864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069080" y="40416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Symmetry / Fractal Dimension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069080" y="422452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regularity of cell boundaries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931920" y="4443984"/>
            <a:ext cx="54864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069080" y="44439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· SE · Worst (×10 each)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069080" y="462686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statistical variants per feature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365760" y="4709160"/>
            <a:ext cx="8412480" cy="292608"/>
          </a:xfrm>
          <a:prstGeom prst="rect">
            <a:avLst/>
          </a:prstGeom>
          <a:solidFill>
            <a:srgbClr val="E6F7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7200" y="47365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17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Clean, structured dataset with strong diagnostic signal quality — well-suited for analytical modeling.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828800" cy="2926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Validation &amp; Preparation Strategy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0233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4023360" cy="3840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ACTIVITIES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733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irrelevant ID column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— zero missing values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500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 records found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6883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consistency verified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302666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1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encoded (M=1, B=0)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0" y="1188720"/>
            <a:ext cx="4206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1188720"/>
            <a:ext cx="420624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1887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 STRATEGY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719072"/>
            <a:ext cx="402336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79792" y="1719072"/>
            <a:ext cx="603504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83296" y="1719072"/>
            <a:ext cx="60350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719072"/>
            <a:ext cx="2816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 70%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79792" y="1719072"/>
            <a:ext cx="60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083296" y="1719072"/>
            <a:ext cx="6035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663440" y="2359152"/>
            <a:ext cx="7315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8888" y="23591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(70%)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18888" y="250545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learning — 398 records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688336"/>
            <a:ext cx="73152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268833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(15%)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18888" y="283464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only — 85 records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017520"/>
            <a:ext cx="73152" cy="2560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18888" y="30175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(15%)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18888" y="316382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 — isolated — 86 records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639312"/>
            <a:ext cx="8412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65760" y="3639312"/>
            <a:ext cx="8412480" cy="36576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6393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INTEGRITY — LEAKAGE PREVENTION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2920" y="40599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fully isolated throughout training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02920" y="40599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set used for tuning only — not final evaluation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02920" y="40599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evaluated once on held-out test set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02920" y="404164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data fully isolated throughout training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" y="422452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set used for tuning only — not final evaluation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440740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evaluated once on held-out test set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8288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Identification Workflow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200400" cy="3566160"/>
          </a:xfrm>
          <a:prstGeom prst="rect">
            <a:avLst/>
          </a:prstGeom>
          <a:solidFill>
            <a:srgbClr val="0D3B6E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32004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RANDOM FOREST?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structured diagnostic data effectively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complex non-linear relationships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6974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overfitting via ensemble averaging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20040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stable, reproducible performance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7033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feature importance analysis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0" y="1170432"/>
            <a:ext cx="155448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40480" y="12618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86200" y="167335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Data Input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59552" y="1170432"/>
            <a:ext cx="1554480" cy="1371600"/>
          </a:xfrm>
          <a:prstGeom prst="rect">
            <a:avLst/>
          </a:prstGeom>
          <a:solidFill>
            <a:srgbClr val="0290A0"/>
          </a:solidFill>
          <a:ln w="12700">
            <a:solidFill>
              <a:srgbClr val="0290A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59552" y="12618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605272" y="167335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&amp; Validation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278624" y="1170432"/>
            <a:ext cx="1554480" cy="1371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278624" y="12618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24344" y="167335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Identification Engine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0" y="2743200"/>
            <a:ext cx="2331720" cy="1371600"/>
          </a:xfrm>
          <a:prstGeom prst="rect">
            <a:avLst/>
          </a:prstGeom>
          <a:solidFill>
            <a:srgbClr val="02A896"/>
          </a:solidFill>
          <a:ln w="12700">
            <a:solidFill>
              <a:srgbClr val="02A89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840480" y="2834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886200" y="32461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Optimization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446520" y="2743200"/>
            <a:ext cx="2331720" cy="13716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46520" y="2834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492240" y="32461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Insights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40480" y="4279392"/>
            <a:ext cx="4937760" cy="566928"/>
          </a:xfrm>
          <a:prstGeom prst="rect">
            <a:avLst/>
          </a:prstGeom>
          <a:solidFill>
            <a:srgbClr val="0D3B6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0" y="433425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66360" y="433425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433425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Sensitivity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635240" y="433425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Interpretability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828800" cy="2926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Optimization &amp; Tuning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657600" cy="658368"/>
          </a:xfrm>
          <a:prstGeom prst="rect">
            <a:avLst/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34440"/>
            <a:ext cx="3657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2020824"/>
            <a:ext cx="3200400" cy="658368"/>
          </a:xfrm>
          <a:prstGeom prst="rect">
            <a:avLst/>
          </a:prstGeom>
          <a:solidFill>
            <a:srgbClr val="0D5A72"/>
          </a:solidFill>
          <a:ln w="12700">
            <a:solidFill>
              <a:srgbClr val="0D5A7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20824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Search (GridSearchCV)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807208"/>
            <a:ext cx="274320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280720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Stability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51560" y="3593592"/>
            <a:ext cx="2286000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51560" y="3593592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Sensitivity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1188720"/>
            <a:ext cx="43891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1188720"/>
            <a:ext cx="4389120" cy="3840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18872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AREAS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1645920"/>
            <a:ext cx="21031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0" y="1645920"/>
            <a:ext cx="21488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16459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629400" y="164592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Objective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34840" y="2048256"/>
            <a:ext cx="2103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2048256"/>
            <a:ext cx="2148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204825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Depth (max_depth)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629400" y="204825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overfitting to training data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434840" y="2450592"/>
            <a:ext cx="2103120" cy="34747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2450592"/>
            <a:ext cx="2148840" cy="34747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24505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Count (n_estimators)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629400" y="245059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prediction stability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434840" y="2852928"/>
            <a:ext cx="2103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0" y="2852928"/>
            <a:ext cx="21488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480560" y="285292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Sample Split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629400" y="285292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consistency across subsets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434840" y="3255264"/>
            <a:ext cx="2103120" cy="34747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83680" y="3255264"/>
            <a:ext cx="2148840" cy="347472"/>
          </a:xfrm>
          <a:prstGeom prst="rect">
            <a:avLst/>
          </a:prstGeom>
          <a:solidFill>
            <a:srgbClr val="E8EEF4"/>
          </a:solidFill>
          <a:ln w="12700">
            <a:solidFill>
              <a:srgbClr val="E8EEF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480560" y="32552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Weighting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629400" y="325526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sensitivity to high-risk cases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434840" y="3913632"/>
            <a:ext cx="1325880" cy="914400"/>
          </a:xfrm>
          <a:prstGeom prst="rect">
            <a:avLst/>
          </a:prstGeom>
          <a:solidFill>
            <a:srgbClr val="0A2342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434840" y="39593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500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434840" y="44074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897880" y="3913632"/>
            <a:ext cx="1325880" cy="914400"/>
          </a:xfrm>
          <a:prstGeom prst="rect">
            <a:avLst/>
          </a:prstGeom>
          <a:solidFill>
            <a:srgbClr val="0A2342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897880" y="39593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5897880" y="44074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Depth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360920" y="3913632"/>
            <a:ext cx="1325880" cy="914400"/>
          </a:xfrm>
          <a:prstGeom prst="rect">
            <a:avLst/>
          </a:prstGeom>
          <a:solidFill>
            <a:srgbClr val="0A2342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360920" y="395935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balanced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360920" y="440740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Weighting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389120" y="38404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Configuration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8288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Performance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1600200" cy="1097280"/>
          </a:xfrm>
          <a:prstGeom prst="rect">
            <a:avLst/>
          </a:prstGeom>
          <a:solidFill>
            <a:srgbClr val="0D3B6E"/>
          </a:solidFill>
          <a:ln w="254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80160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806854"/>
            <a:ext cx="160020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21408" y="1170432"/>
            <a:ext cx="1600200" cy="1097280"/>
          </a:xfrm>
          <a:prstGeom prst="rect">
            <a:avLst/>
          </a:prstGeom>
          <a:solidFill>
            <a:srgbClr val="0D3B6E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21408" y="1280160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0.97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121408" y="1806854"/>
            <a:ext cx="160020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77056" y="1170432"/>
            <a:ext cx="1600200" cy="1097280"/>
          </a:xfrm>
          <a:prstGeom prst="rect">
            <a:avLst/>
          </a:prstGeom>
          <a:solidFill>
            <a:srgbClr val="0D3B6E"/>
          </a:solidFill>
          <a:ln w="25400">
            <a:solidFill>
              <a:srgbClr val="02A87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77056" y="1280160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A87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877056" y="1806854"/>
            <a:ext cx="160020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32704" y="1170432"/>
            <a:ext cx="1600200" cy="1097280"/>
          </a:xfrm>
          <a:prstGeom prst="rect">
            <a:avLst/>
          </a:prstGeom>
          <a:solidFill>
            <a:srgbClr val="0D3B6E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32704" y="1280160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632704" y="1806854"/>
            <a:ext cx="160020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88352" y="1170432"/>
            <a:ext cx="1600200" cy="1097280"/>
          </a:xfrm>
          <a:prstGeom prst="rect">
            <a:avLst/>
          </a:prstGeom>
          <a:solidFill>
            <a:srgbClr val="0D3B6E"/>
          </a:solidFill>
          <a:ln w="25400">
            <a:solidFill>
              <a:srgbClr val="FFD7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388352" y="1280160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7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0.99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7388352" y="1806854"/>
            <a:ext cx="1600200" cy="416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0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365760" y="2423160"/>
          <a:ext cx="41148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Shape 18"/>
          <p:cNvSpPr/>
          <p:nvPr/>
        </p:nvSpPr>
        <p:spPr>
          <a:xfrm>
            <a:off x="4663440" y="2423160"/>
            <a:ext cx="4114800" cy="2514600"/>
          </a:xfrm>
          <a:prstGeom prst="rect">
            <a:avLst/>
          </a:prstGeom>
          <a:solidFill>
            <a:srgbClr val="0D3B6E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663440" y="248716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 (Test Set)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120640" y="2880360"/>
            <a:ext cx="1463040" cy="10058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5120640" y="295351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120640" y="35341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675120" y="2880360"/>
            <a:ext cx="1463040" cy="100584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675120" y="2953512"/>
            <a:ext cx="1463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FP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675120" y="353415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5120640" y="3977640"/>
            <a:ext cx="1463040" cy="777240"/>
          </a:xfrm>
          <a:prstGeom prst="rect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5120640" y="4050792"/>
            <a:ext cx="1463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31" name="Text 28"/>
          <p:cNvSpPr/>
          <p:nvPr/>
        </p:nvSpPr>
        <p:spPr>
          <a:xfrm>
            <a:off x="5120640" y="448284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800" dirty="0"/>
          </a:p>
        </p:txBody>
      </p:sp>
      <p:sp>
        <p:nvSpPr>
          <p:cNvPr id="32" name="Shape 29"/>
          <p:cNvSpPr/>
          <p:nvPr/>
        </p:nvSpPr>
        <p:spPr>
          <a:xfrm>
            <a:off x="6675120" y="3977640"/>
            <a:ext cx="1463040" cy="7772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675120" y="4050792"/>
            <a:ext cx="146304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TP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6675120" y="448284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5120640" y="2788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Benign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675120" y="2788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Malignant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4846320" y="2926080"/>
            <a:ext cx="256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700" dirty="0"/>
          </a:p>
        </p:txBody>
      </p:sp>
      <p:sp>
        <p:nvSpPr>
          <p:cNvPr id="38" name="Shape 35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0D3B6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57200" y="477316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class separation  ·  High malignant sensitivity  ·  Stable prediction quality across test set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828800" cy="2926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Sensitivity Calibration &amp; Error Analysis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286000" cy="3520440"/>
          </a:xfrm>
          <a:prstGeom prst="rect">
            <a:avLst/>
          </a:prstGeom>
          <a:solidFill>
            <a:srgbClr val="0A2342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2588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0.45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97180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boundary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lowered from default 0.5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increase malignant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sensitivity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834640" y="1188720"/>
            <a:ext cx="5943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34640" y="1188720"/>
            <a:ext cx="5943600" cy="3840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118872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TRADEOFF FRAMEWORK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926080" y="1664208"/>
            <a:ext cx="2743200" cy="960120"/>
          </a:xfrm>
          <a:prstGeom prst="rect">
            <a:avLst/>
          </a:prstGeom>
          <a:solidFill>
            <a:srgbClr val="FFF5F5"/>
          </a:solidFill>
          <a:ln w="2540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71800" y="1691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3E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 (Missed High-Risk)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71800" y="19659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Delayed investigation risk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Priority to minimize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664208"/>
            <a:ext cx="2743200" cy="960120"/>
          </a:xfrm>
          <a:prstGeom prst="rect">
            <a:avLst/>
          </a:prstGeom>
          <a:solidFill>
            <a:srgbClr val="FFFBEB"/>
          </a:solidFill>
          <a:ln w="25400">
            <a:solidFill>
              <a:srgbClr val="DD6B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89320" y="1691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D6B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 (False Alert)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89320" y="196596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Additional review effort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Acceptable operational cost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34640" y="2880360"/>
            <a:ext cx="59436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834640" y="2880360"/>
            <a:ext cx="59436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2880360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— ERROR PATTERN ANALYSIS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880360" y="3364992"/>
            <a:ext cx="54864" cy="29260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99232" y="33649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Cases (FN)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33649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feature values  ·  Overlapping benign/malignant patterns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880360" y="3767328"/>
            <a:ext cx="54864" cy="292608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99232" y="376732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Alerts (FP)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37673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cases with elevated measurement characteristics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880360" y="4169664"/>
            <a:ext cx="54864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99232" y="416966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Effect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09160" y="4169664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Lowering to 0.45 reduced FN from ~4 to 1 on test set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8288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 Pattern Segmentation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828800" cy="1005840"/>
          </a:xfrm>
          <a:prstGeom prst="rect">
            <a:avLst/>
          </a:prstGeom>
          <a:solidFill>
            <a:srgbClr val="0D3B6E"/>
          </a:solidFill>
          <a:ln w="12700">
            <a:solidFill>
              <a:srgbClr val="5555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2704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case?"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13258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834640" y="1188720"/>
            <a:ext cx="1828800" cy="1005840"/>
          </a:xfrm>
          <a:prstGeom prst="rect">
            <a:avLst/>
          </a:prstGeom>
          <a:solidFill>
            <a:srgbClr val="0D3B6E"/>
          </a:solidFill>
          <a:ln w="254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34640" y="118872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152704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behavior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exist?"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6320" y="14630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=  Deeper Interpretability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359152"/>
            <a:ext cx="2560320" cy="1261872"/>
          </a:xfrm>
          <a:prstGeom prst="rect">
            <a:avLst/>
          </a:prstGeom>
          <a:solidFill>
            <a:srgbClr val="0D3B6E"/>
          </a:solidFill>
          <a:ln w="127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59152"/>
            <a:ext cx="256032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35915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USED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761488"/>
            <a:ext cx="2377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
</a:t>
            </a:r>
            <a:pPr indent="0" marL="0">
              <a:buNone/>
            </a:pPr>
            <a:r>
              <a:rPr lang="en-US" sz="10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k determined via Elbow Method
</a:t>
            </a:r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Hierarchical Clustering
</a:t>
            </a:r>
            <a:pPr indent="0" marL="0">
              <a:buNone/>
            </a:pPr>
            <a:r>
              <a:rPr lang="en-US" sz="10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with Dendrogram analysis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08960" y="2331720"/>
            <a:ext cx="1828800" cy="2423160"/>
          </a:xfrm>
          <a:prstGeom prst="rect">
            <a:avLst/>
          </a:prstGeom>
          <a:solidFill>
            <a:srgbClr val="0D3B6E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08960" y="2331720"/>
            <a:ext cx="1828800" cy="3840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2331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108960" y="27797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108960" y="3063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Lower-Risk Pattern Group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0" y="3401568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Predominantly benign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· smaller radii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concavity scores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5120640" y="2331720"/>
            <a:ext cx="1828800" cy="2423160"/>
          </a:xfrm>
          <a:prstGeom prst="rect">
            <a:avLst/>
          </a:prstGeom>
          <a:solidFill>
            <a:srgbClr val="0D3B6E"/>
          </a:solidFill>
          <a:ln w="25400">
            <a:solidFill>
              <a:srgbClr val="DD6B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120640" y="2331720"/>
            <a:ext cx="1828800" cy="384048"/>
          </a:xfrm>
          <a:prstGeom prst="rect">
            <a:avLst/>
          </a:prstGeom>
          <a:solidFill>
            <a:srgbClr val="DD6B20"/>
          </a:solidFill>
          <a:ln w="12700">
            <a:solidFill>
              <a:srgbClr val="DD6B2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331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20640" y="27797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20640" y="3063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/ Mixed Group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12080" y="3401568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features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classes · requires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analytical review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132320" y="2331720"/>
            <a:ext cx="1828800" cy="2423160"/>
          </a:xfrm>
          <a:prstGeom prst="rect">
            <a:avLst/>
          </a:prstGeom>
          <a:solidFill>
            <a:srgbClr val="0D3B6E"/>
          </a:solidFill>
          <a:ln w="25400">
            <a:solidFill>
              <a:srgbClr val="E53E3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0" y="2331720"/>
            <a:ext cx="1828800" cy="384048"/>
          </a:xfrm>
          <a:prstGeom prst="rect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23317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32320" y="27797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132320" y="30632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Higher-Risk Pattern Group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223760" y="3401568"/>
            <a:ext cx="1645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Malignant-leaning features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concavity &amp; texture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dominate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4709160"/>
            <a:ext cx="8412480" cy="292608"/>
          </a:xfrm>
          <a:prstGeom prst="rect">
            <a:avLst/>
          </a:prstGeom>
          <a:solidFill>
            <a:srgbClr val="0D3B6E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73659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improves interpretability · subgroup understanding · diagnostic behavior communication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828800" cy="29260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 &amp; Strategic Recommendations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70432"/>
            <a:ext cx="2697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73736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Sensitivity Over Accuracy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2103120"/>
            <a:ext cx="2478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missed high-risk cases is more operationally critical than maximizing raw accuracy alone.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18688" y="1170432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18688" y="1170432"/>
            <a:ext cx="26974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18688" y="11704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28416" y="173736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Threshold Calibration Matters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28416" y="2103120"/>
            <a:ext cx="2478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Adjusting the decision boundary from 0.5 to 0.45 significantly improved malignant case capture.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71616" y="1170432"/>
            <a:ext cx="26974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71616" y="1170432"/>
            <a:ext cx="2697480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71616" y="1170432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03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81344" y="173736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Segmentation Adds Depth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81344" y="2103120"/>
            <a:ext cx="24780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clustering revealed interpretable subgroups beyond simple binary classification output.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84124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E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154680"/>
            <a:ext cx="8412480" cy="3840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546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694176"/>
            <a:ext cx="54864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630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Dataset Diversity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94360" y="38496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wider demographic and geographic variation to improve generalizability.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4078224"/>
            <a:ext cx="54864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014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Explainability Tools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42336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SHAP or LIME to make feature contributions visible and interpretable.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4462272"/>
            <a:ext cx="54864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4398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Prediction Drift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" y="461772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ongoing model monitoring to detect data or performance shifts over time.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09160" y="3694176"/>
            <a:ext cx="54864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630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Sensitivity Tuning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46320" y="38496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threshold calibration as new data becomes available.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4078224"/>
            <a:ext cx="54864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401421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Segmentation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42336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cluster profiles for targeted subgroup analysis and reporting.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182880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286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Future Enhancements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977640" cy="3246120"/>
          </a:xfrm>
          <a:prstGeom prst="rect">
            <a:avLst/>
          </a:prstGeom>
          <a:solidFill>
            <a:srgbClr val="0D3B6E"/>
          </a:solidFill>
          <a:ln w="19050">
            <a:solidFill>
              <a:srgbClr val="CC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3977640" cy="402336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54864" cy="50292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7190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Dataset Size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9659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569 records limits statistical generalizability to broader populations.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450592"/>
            <a:ext cx="54864" cy="50292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4505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Clinical Validation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analytical — not validated in a real clinical setting.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182112"/>
            <a:ext cx="54864" cy="50292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182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External Features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imaging data, genetic markers, or patient history included.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913632"/>
            <a:ext cx="54864" cy="502920"/>
          </a:xfrm>
          <a:prstGeom prst="rect">
            <a:avLst/>
          </a:prstGeom>
          <a:solidFill>
            <a:srgbClr val="CC4444"/>
          </a:solidFill>
          <a:ln w="12700">
            <a:solidFill>
              <a:srgbClr val="CC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9136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Algorithm Focus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benchmarking with other models not performed.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1188720"/>
            <a:ext cx="4206240" cy="3383280"/>
          </a:xfrm>
          <a:prstGeom prst="rect">
            <a:avLst/>
          </a:prstGeom>
          <a:solidFill>
            <a:srgbClr val="0D3B6E"/>
          </a:solidFill>
          <a:ln w="1905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0" y="1188720"/>
            <a:ext cx="4206240" cy="40233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118872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773936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75564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56048" y="171907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Larger, Diverse Datasets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56048" y="19476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multi-institutional data to improve generalizability.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2322576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30428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956048" y="22677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(SHAP/LIME)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956048" y="24963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feature-level reasoning for every prediction made.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2871216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285292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56048" y="28163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Workflow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56048" y="30449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clinical reviewer decision gates for borderline cases.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419856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340156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56048" y="336499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56048" y="35935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data drift and model degradation in production pipelines.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3968496"/>
            <a:ext cx="228600" cy="2286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395020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956048" y="39136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Calibration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956048" y="41422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A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Platt scaling or isotonic regression for better-calibrated outputs.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65760" y="4572000"/>
            <a:ext cx="8412480" cy="402336"/>
          </a:xfrm>
          <a:prstGeom prst="rect">
            <a:avLst/>
          </a:prstGeom>
          <a:solidFill>
            <a:srgbClr val="1A0000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" y="459943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This workflow is educational and analytical in nature — it is not intended for clinical diagnosis or deployment.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686800" y="480060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8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Breast Tumor Risk Identification</dc:title>
  <dc:subject>PptxGenJS Presentation</dc:subject>
  <dc:creator>PptxGenJS</dc:creator>
  <cp:lastModifiedBy>PptxGenJS</cp:lastModifiedBy>
  <cp:revision>1</cp:revision>
  <dcterms:created xsi:type="dcterms:W3CDTF">2026-05-09T07:50:45Z</dcterms:created>
  <dcterms:modified xsi:type="dcterms:W3CDTF">2026-05-09T07:50:45Z</dcterms:modified>
</cp:coreProperties>
</file>